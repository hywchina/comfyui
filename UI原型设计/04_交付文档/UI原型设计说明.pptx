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87564fdd974c27" /><Relationship Type="http://schemas.openxmlformats.org/officeDocument/2006/relationships/extended-properties" Target="/docProps/app.xml" Id="Rbcc657a890aa4230" /><Relationship Type="http://schemas.openxmlformats.org/officeDocument/2006/relationships/officeDocument" Target="/ppt/presentation.xml" Id="R0e140ea103e547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5f6b60efdc4958"/>
  </p:sldMasterIdLst>
  <p:notesMasterIdLst>
    <p:notesMasterId xmlns:r="http://schemas.openxmlformats.org/officeDocument/2006/relationships" r:id="R8e1d60b9ce8b4b59"/>
  </p:notesMasterIdLst>
  <p:sldIdLst>
    <p:sldId xmlns:r="http://schemas.openxmlformats.org/officeDocument/2006/relationships" id="256" r:id="Rb29ea14932124a6f"/>
    <p:sldId xmlns:r="http://schemas.openxmlformats.org/officeDocument/2006/relationships" id="257" r:id="Rbcdfc725a0cc43df"/>
    <p:sldId xmlns:r="http://schemas.openxmlformats.org/officeDocument/2006/relationships" id="258" r:id="Rdde4921758884c56"/>
    <p:sldId xmlns:r="http://schemas.openxmlformats.org/officeDocument/2006/relationships" id="259" r:id="R6cfdc55dc8824881"/>
    <p:sldId xmlns:r="http://schemas.openxmlformats.org/officeDocument/2006/relationships" id="260" r:id="R36f7d3f6f23b4c0f"/>
    <p:sldId xmlns:r="http://schemas.openxmlformats.org/officeDocument/2006/relationships" id="261" r:id="Raab5f9a977034359"/>
    <p:sldId xmlns:r="http://schemas.openxmlformats.org/officeDocument/2006/relationships" id="262" r:id="R38d4120d9e64426c"/>
    <p:sldId xmlns:r="http://schemas.openxmlformats.org/officeDocument/2006/relationships" id="263" r:id="R1fefbe97fa5d4c94"/>
    <p:sldId xmlns:r="http://schemas.openxmlformats.org/officeDocument/2006/relationships" id="264" r:id="R36fe1bc1bc18430b"/>
    <p:sldId xmlns:r="http://schemas.openxmlformats.org/officeDocument/2006/relationships" id="265" r:id="Rc98c77515b584032"/>
    <p:sldId xmlns:r="http://schemas.openxmlformats.org/officeDocument/2006/relationships" id="266" r:id="R39207e874c3146b9"/>
    <p:sldId xmlns:r="http://schemas.openxmlformats.org/officeDocument/2006/relationships" id="267" r:id="R68773cf7b8384b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8e8ef56def44d1" /><Relationship Type="http://schemas.openxmlformats.org/officeDocument/2006/relationships/slideMaster" Target="/ppt/slideMasters/slideMaster1.xml" Id="Rb85f6b60efdc4958" /><Relationship Type="http://schemas.openxmlformats.org/officeDocument/2006/relationships/notesMaster" Target="/ppt/notesMasters/notesMaster1.xml" Id="R8e1d60b9ce8b4b59" /><Relationship Type="http://schemas.openxmlformats.org/officeDocument/2006/relationships/presProps" Target="/ppt/presProps.xml" Id="Rc55d21ee4da04989" /><Relationship Type="http://schemas.openxmlformats.org/officeDocument/2006/relationships/tableStyles" Target="/ppt/tableStyles.xml" Id="Rda2368776ead4fa8" /><Relationship Type="http://schemas.openxmlformats.org/officeDocument/2006/relationships/slide" Target="/ppt/slides/slide1.xml" Id="Rb29ea14932124a6f" /><Relationship Type="http://schemas.openxmlformats.org/officeDocument/2006/relationships/slide" Target="/ppt/slides/slide2.xml" Id="Rbcdfc725a0cc43df" /><Relationship Type="http://schemas.openxmlformats.org/officeDocument/2006/relationships/slide" Target="/ppt/slides/slide3.xml" Id="Rdde4921758884c56" /><Relationship Type="http://schemas.openxmlformats.org/officeDocument/2006/relationships/slide" Target="/ppt/slides/slide4.xml" Id="R6cfdc55dc8824881" /><Relationship Type="http://schemas.openxmlformats.org/officeDocument/2006/relationships/slide" Target="/ppt/slides/slide5.xml" Id="R36f7d3f6f23b4c0f" /><Relationship Type="http://schemas.openxmlformats.org/officeDocument/2006/relationships/slide" Target="/ppt/slides/slide6.xml" Id="Raab5f9a977034359" /><Relationship Type="http://schemas.openxmlformats.org/officeDocument/2006/relationships/slide" Target="/ppt/slides/slide7.xml" Id="R38d4120d9e64426c" /><Relationship Type="http://schemas.openxmlformats.org/officeDocument/2006/relationships/slide" Target="/ppt/slides/slide8.xml" Id="R1fefbe97fa5d4c94" /><Relationship Type="http://schemas.openxmlformats.org/officeDocument/2006/relationships/slide" Target="/ppt/slides/slide9.xml" Id="R36fe1bc1bc18430b" /><Relationship Type="http://schemas.openxmlformats.org/officeDocument/2006/relationships/slide" Target="/ppt/slides/slide10.xml" Id="Rc98c77515b584032" /><Relationship Type="http://schemas.openxmlformats.org/officeDocument/2006/relationships/slide" Target="/ppt/slides/slide11.xml" Id="R39207e874c3146b9" /><Relationship Type="http://schemas.openxmlformats.org/officeDocument/2006/relationships/slide" Target="/ppt/slides/slide12.xml" Id="R68773cf7b8384b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990b31b83b4b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f266aaf4a7470f" /><Relationship Type="http://schemas.openxmlformats.org/officeDocument/2006/relationships/notesMaster" Target="/ppt/notesMasters/notesMaster1.xml" Id="R93abcc323d1042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84468e40b2400d" /><Relationship Type="http://schemas.openxmlformats.org/officeDocument/2006/relationships/notesMaster" Target="/ppt/notesMasters/notesMaster1.xml" Id="R6368693e531b49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5889afc2bc47b7" /><Relationship Type="http://schemas.openxmlformats.org/officeDocument/2006/relationships/notesMaster" Target="/ppt/notesMasters/notesMaster1.xml" Id="R3824897b777143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a2068d8a4240c1" /><Relationship Type="http://schemas.openxmlformats.org/officeDocument/2006/relationships/notesMaster" Target="/ppt/notesMasters/notesMaster1.xml" Id="Ra6e1da86e5754f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60b11fbf264f3f" /><Relationship Type="http://schemas.openxmlformats.org/officeDocument/2006/relationships/notesMaster" Target="/ppt/notesMasters/notesMaster1.xml" Id="R4b3692eef47044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ea219df8e14642" /><Relationship Type="http://schemas.openxmlformats.org/officeDocument/2006/relationships/notesMaster" Target="/ppt/notesMasters/notesMaster1.xml" Id="Rdd87b0b5115847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98610c77c94a0d" /><Relationship Type="http://schemas.openxmlformats.org/officeDocument/2006/relationships/notesMaster" Target="/ppt/notesMasters/notesMaster1.xml" Id="Rb5bc9dd88da249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953be907984e7f" /><Relationship Type="http://schemas.openxmlformats.org/officeDocument/2006/relationships/notesMaster" Target="/ppt/notesMasters/notesMaster1.xml" Id="Reba958b7440743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fee51695fc4146" /><Relationship Type="http://schemas.openxmlformats.org/officeDocument/2006/relationships/notesMaster" Target="/ppt/notesMasters/notesMaster1.xml" Id="R654842d22fcf49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e44158ac22402f" /><Relationship Type="http://schemas.openxmlformats.org/officeDocument/2006/relationships/notesMaster" Target="/ppt/notesMasters/notesMaster1.xml" Id="Reac4b628b4d14d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428ce086ae4897" /><Relationship Type="http://schemas.openxmlformats.org/officeDocument/2006/relationships/notesMaster" Target="/ppt/notesMasters/notesMaster1.xml" Id="R613a753159c542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dfa3c3e5a14890" /><Relationship Type="http://schemas.openxmlformats.org/officeDocument/2006/relationships/notesMaster" Target="/ppt/notesMasters/notesMaster1.xml" Id="R15048155776047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3462ba72841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9cf11fc37d4d44" /><Relationship Type="http://schemas.openxmlformats.org/officeDocument/2006/relationships/slideLayout" Target="/ppt/slideLayouts/slideLayout1.xml" Id="R2aafccf1a74648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afccf1a74648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77222fdc44212" /><Relationship Type="http://schemas.openxmlformats.org/officeDocument/2006/relationships/image" Target="/ppt/media/image.png" Id="Rc52490e0f9ea4006" /><Relationship Type="http://schemas.openxmlformats.org/officeDocument/2006/relationships/notesSlide" Target="/ppt/notesSlides/notesSlide1.xml" Id="R8271d464dbaf44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5d42bce9441d3" /><Relationship Type="http://schemas.openxmlformats.org/officeDocument/2006/relationships/image" Target="/ppt/media/image2.png" Id="Rc17fe73c85244eef" /><Relationship Type="http://schemas.openxmlformats.org/officeDocument/2006/relationships/image" Target="/ppt/media/image3.png" Id="R0af3746c528441da" /><Relationship Type="http://schemas.openxmlformats.org/officeDocument/2006/relationships/notesSlide" Target="/ppt/notesSlides/notesSlide2.xml" Id="R144f82457dd442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6ff12877642bc" /><Relationship Type="http://schemas.openxmlformats.org/officeDocument/2006/relationships/notesSlide" Target="/ppt/notesSlides/notesSlide3.xml" Id="R2148113bb41d4f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e6c46f01e47a9" /><Relationship Type="http://schemas.openxmlformats.org/officeDocument/2006/relationships/image" Target="/ppt/media/image4.png" Id="R94f7cfa00d2b411d" /><Relationship Type="http://schemas.openxmlformats.org/officeDocument/2006/relationships/image" Target="/ppt/media/image5.png" Id="R9fa10e6729314b63" /><Relationship Type="http://schemas.openxmlformats.org/officeDocument/2006/relationships/notesSlide" Target="/ppt/notesSlides/notesSlide4.xml" Id="Rdc7f9ca56b4444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ff94e1b4447be" /><Relationship Type="http://schemas.openxmlformats.org/officeDocument/2006/relationships/image" Target="/ppt/media/image6.png" Id="R5ad34b2d7bea43da" /><Relationship Type="http://schemas.openxmlformats.org/officeDocument/2006/relationships/notesSlide" Target="/ppt/notesSlides/notesSlide5.xml" Id="R0a5a64c7cdd64d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5199efa404028" /><Relationship Type="http://schemas.openxmlformats.org/officeDocument/2006/relationships/image" Target="/ppt/media/image7.png" Id="Rfef482a833df43a4" /><Relationship Type="http://schemas.openxmlformats.org/officeDocument/2006/relationships/notesSlide" Target="/ppt/notesSlides/notesSlide6.xml" Id="R96e2c71490cc40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809c0055645f0" /><Relationship Type="http://schemas.openxmlformats.org/officeDocument/2006/relationships/image" Target="/ppt/media/image8.png" Id="Ra1762fe39e03442c" /><Relationship Type="http://schemas.openxmlformats.org/officeDocument/2006/relationships/image" Target="/ppt/media/image9.png" Id="R221ba2d473d544fc" /><Relationship Type="http://schemas.openxmlformats.org/officeDocument/2006/relationships/notesSlide" Target="/ppt/notesSlides/notesSlide7.xml" Id="R6da8aae27d644d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869b39a344299" /><Relationship Type="http://schemas.openxmlformats.org/officeDocument/2006/relationships/image" Target="/ppt/media/image10.png" Id="Rab06cfe719df49f3" /><Relationship Type="http://schemas.openxmlformats.org/officeDocument/2006/relationships/image" Target="/ppt/media/image11.png" Id="R63686016cf364128" /><Relationship Type="http://schemas.openxmlformats.org/officeDocument/2006/relationships/notesSlide" Target="/ppt/notesSlides/notesSlide8.xml" Id="Rada151c2d3ea42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93911fb8f424c" /><Relationship Type="http://schemas.openxmlformats.org/officeDocument/2006/relationships/image" Target="/ppt/media/image12.png" Id="R572ecd069d614ee7" /><Relationship Type="http://schemas.openxmlformats.org/officeDocument/2006/relationships/notesSlide" Target="/ppt/notesSlides/notesSlide9.xml" Id="R1236b102164d45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7b981fe154640" /><Relationship Type="http://schemas.openxmlformats.org/officeDocument/2006/relationships/image" Target="/ppt/media/image13.png" Id="Rbbf55608f542440c" /><Relationship Type="http://schemas.openxmlformats.org/officeDocument/2006/relationships/image" Target="/ppt/media/image14.png" Id="Rcb24e84c4bf44f77" /><Relationship Type="http://schemas.openxmlformats.org/officeDocument/2006/relationships/notesSlide" Target="/ppt/notesSlides/notesSlide10.xml" Id="Rd9c44e7fc0bc45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de50bafae4fb2" /><Relationship Type="http://schemas.openxmlformats.org/officeDocument/2006/relationships/image" Target="/ppt/media/image15.png" Id="Rd1133b49dc924f55" /><Relationship Type="http://schemas.openxmlformats.org/officeDocument/2006/relationships/image" Target="/ppt/media/image16.png" Id="R1b754eacdf3245c8" /><Relationship Type="http://schemas.openxmlformats.org/officeDocument/2006/relationships/notesSlide" Target="/ppt/notesSlides/notesSlide11.xml" Id="R90159928bb2047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2c2b9ec744a9f" /><Relationship Type="http://schemas.openxmlformats.org/officeDocument/2006/relationships/notesSlide" Target="/ppt/notesSlides/notesSlide12.xml" Id="R516190f3275444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DF93B1-F977-41AF-AF43-4095C9E4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1A"/>
                </a:solidFill>
              </a:defRPr>
            </a:pPr>
            <a:r>
              <a:rPr sz="1200" b="1">
                <a:solidFill>
                  <a:srgbClr val="C7001A"/>
                </a:solidFill>
              </a:rPr>
              <a:t>UI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3269C-F997-4E0F-9773-DC71A05F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51922"/>
                </a:solidFill>
              </a:defRPr>
            </a:pPr>
            <a:r>
              <a:rPr sz="4050" b="1">
                <a:solidFill>
                  <a:srgbClr val="151922"/>
                </a:solidFill>
              </a:rPr>
              <a:t>轨道交通客室智能快速设计工具 UI 原型说明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3B438-4727-4B3B-B406-4C0B665C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把 PDF 与需求截图中的功能清单转化为面向设计师的多模态生成工作台。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17C28-B9AB-4900-A81F-D1886DF9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FFD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9B180-24F2-4C3B-90DA-99C514FB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0016"/>
                </a:solidFill>
              </a:defRPr>
            </a:pPr>
            <a:r>
              <a:rPr sz="1350" b="1">
                <a:solidFill>
                  <a:srgbClr val="A90016"/>
                </a:solidFill>
              </a:rPr>
              <a:t>交付内容：源文件归档、页面截图、设计说明 PPT、开发迁移说明 MD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490e0f9ea4006"/>
          <a:srcRect xmlns:a="http://schemas.openxmlformats.org/drawingml/2006/main" l="15145" t="0" r="151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914400"/>
            <a:ext cx="47625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3C26F-4C1F-4C5D-AB00-FABB6949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387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FFD7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001A"/>
                </a:solidFill>
              </a:defRPr>
            </a:pPr>
            <a:r>
              <a:rPr sz="1200" b="1">
                <a:solidFill>
                  <a:srgbClr val="C7001A"/>
                </a:solidFill>
              </a:rPr>
              <a:t>#c7001a 中车红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4036F-A44B-49F4-AD04-E225C7F0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387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0016"/>
                </a:solidFill>
              </a:defRPr>
            </a:pPr>
            <a:r>
              <a:rPr sz="1200" b="1">
                <a:solidFill>
                  <a:srgbClr val="A90016"/>
                </a:solidFill>
              </a:rPr>
              <a:t>ComfyUI API 封装</a:t>
            </a:r>
          </a:p>
        </p:txBody>
      </p:sp>
    </p:spTree>
    <p:extLst>
      <p:ext uri="{BB962C8B-B14F-4D97-AF65-F5344CB8AC3E}">
        <p14:creationId xmlns:p14="http://schemas.microsoft.com/office/powerpoint/2010/main" val="9922632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ADCA2A-238F-473F-A780-AF4F2E82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922"/>
                </a:solidFill>
              </a:defRPr>
            </a:pPr>
            <a:r>
              <a:rPr sz="2850" b="1">
                <a:solidFill>
                  <a:srgbClr val="151922"/>
                </a:solidFill>
              </a:rPr>
              <a:t>原始需求指向一个工作台，而不是节点编辑器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8E614-4906-4B8B-B01B-2B4716CD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需求来自项目 PDF、用户补充截图和对 LibLibAI WebUI 风格的多轮确认。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96EC0-83A1-4077-8A06-35BF5E39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F8CE3-1081-4367-9B2F-EA8A0C31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8384F-100B-466F-8ECA-97A940C6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1A"/>
                </a:solidFill>
              </a:defRPr>
            </a:pPr>
            <a:r>
              <a:rPr sz="1950" b="1">
                <a:solidFill>
                  <a:srgbClr val="C7001A"/>
                </a:solidFill>
              </a:rPr>
              <a:t>需求来源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8E603-B61F-4150-A6AF-74BB347A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DC853-67FF-4F03-8655-BD94587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本地 Docker 部署 ComfyUI 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9567F-97DF-4095-9148-16090198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5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33FE8-4E24-4699-97FE-26BEAAAD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通过 API 调用已发布工作流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80BCE-31C3-40B6-B480-3E659C79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7A492-8952-4CC7-8A97-6A3EEC54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覆盖效果图、CMF、零部件、LoRA、3D 与报告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BDF29-CC83-417A-9D92-C48FF725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48920-847E-487D-B1BC-C94A6058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面向设计师隐藏节点复杂度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fe73c85244eef"/>
          <a:srcRect xmlns:a="http://schemas.openxmlformats.org/drawingml/2006/main" l="17744" t="0" r="177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562100"/>
            <a:ext cx="320040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3746c528441da"/>
          <a:srcRect xmlns:a="http://schemas.openxmlformats.org/drawingml/2006/main" l="0" t="20141" r="0" b="20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1562100"/>
            <a:ext cx="320040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40855-0483-4244-AB1D-89CF51B3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434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922"/>
                </a:solidFill>
              </a:defRPr>
            </a:pPr>
            <a:r>
              <a:rPr sz="2100" b="1">
                <a:solidFill>
                  <a:srgbClr val="151922"/>
                </a:solidFill>
              </a:rPr>
              <a:t>UI 响应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BA04E-D75D-424E-81C1-7D70E1D3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24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93EB0-6786-47FA-B0D2-2E096018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38700"/>
            <a:ext cx="626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保留 WebUI 的高密度参数输入与任务队列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2C32D-E42A-49E9-A30A-346EE076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24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36ED9-9181-4347-A94D-299583C8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38750"/>
            <a:ext cx="626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新增首页主视觉，用于项目汇报时解释平台价值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7B25A-C21F-4399-980E-EF309BCB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24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DA99A-EBE8-43A0-AE56-32B5C861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38800"/>
            <a:ext cx="626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整体主色从蓝色调整为中车红，贴近品牌官网</a:t>
            </a:r>
          </a:p>
        </p:txBody>
      </p:sp>
    </p:spTree>
    <p:extLst>
      <p:ext uri="{BB962C8B-B14F-4D97-AF65-F5344CB8AC3E}">
        <p14:creationId xmlns:p14="http://schemas.microsoft.com/office/powerpoint/2010/main" val="1307505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0352E0-29E7-4175-A5CB-7EAD7245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922"/>
                </a:solidFill>
              </a:defRPr>
            </a:pPr>
            <a:r>
              <a:rPr sz="2850" b="1">
                <a:solidFill>
                  <a:srgbClr val="151922"/>
                </a:solidFill>
              </a:rPr>
              <a:t>信息架构把复杂生成流程压缩为六个入口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83BB8-9319-4099-8CB6-B6915EBC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LoRA 与权限管理保留在顶部入口和管理页中，主 Tab 只承载设计效果实现链路。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4AE55-1C42-46D7-9952-87F00C09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8F5A5-35CE-4825-BB10-D77D2F18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FFD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3D50E-B510-4404-A2D5-9F80BA34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001A"/>
                </a:solidFill>
              </a:defRPr>
            </a:pPr>
            <a:r>
              <a:rPr sz="2100" b="1">
                <a:solidFill>
                  <a:srgbClr val="C7001A"/>
                </a:solidFill>
              </a:rPr>
              <a:t>首页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96F08-6EA4-4CC8-8CCC-B93FB716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平台定位、功能概览、进入设计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B07E3-BA37-4C52-9809-157BCBB6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95450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442FD-8E52-4244-A901-C018D758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240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922"/>
                </a:solidFill>
              </a:defRPr>
            </a:pPr>
            <a:r>
              <a:rPr sz="2100" b="1">
                <a:solidFill>
                  <a:srgbClr val="151922"/>
                </a:solidFill>
              </a:rPr>
              <a:t>客室效果生成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3CABA-FD40-40CC-B1F6-8421E77A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812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平面图、白模、提示词和遮罩修改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B73D9-1431-4835-B3F3-3E9A6497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88DF4-6158-4B6B-B0D3-AE963AB2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922"/>
                </a:solidFill>
              </a:defRPr>
            </a:pPr>
            <a:r>
              <a:rPr sz="2100" b="1">
                <a:solidFill>
                  <a:srgbClr val="151922"/>
                </a:solidFill>
              </a:rPr>
              <a:t>CMF生成器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645DF-C631-4F51-B59E-C5CA7B3D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面料、地板、墙板纹样生成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BFF22-14EE-4E3B-87E3-0F9B4B5D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36AB8-D47D-447D-AD0B-DE4987FC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922"/>
                </a:solidFill>
              </a:defRPr>
            </a:pPr>
            <a:r>
              <a:rPr sz="2100" b="1">
                <a:solidFill>
                  <a:srgbClr val="151922"/>
                </a:solidFill>
              </a:rPr>
              <a:t>零部件生成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03F0B-DE7D-43CF-A912-3E6BA6AC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文生图、参考图、多角度和局部修改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6FCF3-5ED4-43AB-9CB8-713D514B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05200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5A1BA-8B47-4FB6-9F68-1F0E780E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33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922"/>
                </a:solidFill>
              </a:defRPr>
            </a:pPr>
            <a:r>
              <a:rPr sz="2100" b="1">
                <a:solidFill>
                  <a:srgbClr val="151922"/>
                </a:solidFill>
              </a:rPr>
              <a:t>2D生3D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894B3-D2F4-46DE-9A44-245BF6F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91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多角度图生成三维模型数据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4CFCE-B49F-4471-9A55-5A061097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05200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157A3-46FC-4992-817F-931528A0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33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922"/>
                </a:solidFill>
              </a:defRPr>
            </a:pPr>
            <a:r>
              <a:rPr sz="2100" b="1">
                <a:solidFill>
                  <a:srgbClr val="151922"/>
                </a:solidFill>
              </a:rPr>
              <a:t>自动报告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FA22D-7570-4443-BA86-0A4F752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91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素材选择、Word/PPT 报告草稿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FAC95-01ED-46B7-BEA0-606B53D0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0016"/>
                </a:solidFill>
              </a:defRPr>
            </a:pPr>
            <a:r>
              <a:rPr sz="1650" b="1">
                <a:solidFill>
                  <a:srgbClr val="A90016"/>
                </a:solidFill>
              </a:rPr>
              <a:t>辅助能力：LoRA 素材库、LoRA 训练、资源库、用户权限、AI 助手</a:t>
            </a:r>
          </a:p>
        </p:txBody>
      </p:sp>
    </p:spTree>
    <p:extLst>
      <p:ext uri="{BB962C8B-B14F-4D97-AF65-F5344CB8AC3E}">
        <p14:creationId xmlns:p14="http://schemas.microsoft.com/office/powerpoint/2010/main" val="499574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5258F0-0759-4811-8F80-B766ED51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922"/>
                </a:solidFill>
              </a:defRPr>
            </a:pPr>
            <a:r>
              <a:rPr sz="2850" b="1">
                <a:solidFill>
                  <a:srgbClr val="151922"/>
                </a:solidFill>
              </a:rPr>
              <a:t>登录页和首页负责建立品牌感与使用上下文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8149E-0881-4DF3-96C2-1D553A26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登录页增加验证码，首页只改变内容区，顶部状态栏和工作流导航保持稳定。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1E570-CCC9-43F6-A3AA-8485341B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7cfa00d2b411d"/>
          <a:srcRect xmlns:a="http://schemas.openxmlformats.org/drawingml/2006/main" l="5222" t="0" r="5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4953000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10e6729314b63"/>
          <a:srcRect xmlns:a="http://schemas.openxmlformats.org/drawingml/2006/main" l="5222" t="0" r="5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19250"/>
            <a:ext cx="4953000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90056-C9FC-4B2A-AA30-76181133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5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1AFFE-36BF-449C-8AC8-655EC8D1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960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中车 Logo 和中车红建立品牌识别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1AB80-B29B-4C0C-BFE7-8AE304AC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9D5C8-ABB6-4F2E-B1D7-77E09DF4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81650"/>
            <a:ext cx="960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首页强调多模态输入、方案生成、API 调用和交付闭环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D58C0-1D20-434E-B786-5958F401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29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5C5CA-C6C9-4EC7-B3D3-3AD9B100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43600"/>
            <a:ext cx="960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按钮和卡片直接跳转到现有设计模块</a:t>
            </a:r>
          </a:p>
        </p:txBody>
      </p:sp>
    </p:spTree>
    <p:extLst>
      <p:ext uri="{BB962C8B-B14F-4D97-AF65-F5344CB8AC3E}">
        <p14:creationId xmlns:p14="http://schemas.microsoft.com/office/powerpoint/2010/main" val="1297977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5F351E-9B0C-404D-83CE-9B5E024A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922"/>
                </a:solidFill>
              </a:defRPr>
            </a:pPr>
            <a:r>
              <a:rPr sz="2850" b="1">
                <a:solidFill>
                  <a:srgbClr val="151922"/>
                </a:solidFill>
              </a:rPr>
              <a:t>客室效果生成页承接核心设计工作流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2063E-03D1-42F5-9884-0FA88397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这是首屏主工作台，完整展示输入、参数、画布、任务队列和保存动作。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837F3-1973-45F0-8905-530B472A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34b2d7bea43da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04950"/>
            <a:ext cx="7239000" cy="424815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B5E3D-3AF3-453B-A361-9AA123C8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3143250" cy="42481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DAE8F-7670-4021-8276-CDC97FFA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001A"/>
                </a:solidFill>
              </a:defRPr>
            </a:pPr>
            <a:r>
              <a:rPr sz="2100" b="1">
                <a:solidFill>
                  <a:srgbClr val="C7001A"/>
                </a:solidFill>
              </a:rPr>
              <a:t>需求响应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F5517-0EAB-4CA3-B419-CF47AEE8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66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D3506-8CB4-4BB6-AEC8-0D9A90E1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上传平面图、白模截图或参考图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5B220-69EB-40E6-B59A-551862FF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43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5B881-9025-4BE2-AFB7-29F70774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支持屏幕捕捉实时传入工作流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7D98F-D840-4185-B066-4B1D6447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19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07DB8-E028-4DBD-9B93-B38DBDFA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显示当前 API、Checkpoint 和 LoRA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439AA-11FA-4FE6-BE2F-37F2F137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8B79E-1EFD-4687-81CF-9D51B5E2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生成结果可局部遮罩修改并保存资源库</a:t>
            </a:r>
          </a:p>
        </p:txBody>
      </p:sp>
    </p:spTree>
    <p:extLst>
      <p:ext uri="{BB962C8B-B14F-4D97-AF65-F5344CB8AC3E}">
        <p14:creationId xmlns:p14="http://schemas.microsoft.com/office/powerpoint/2010/main" val="1819177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381564-2E19-4284-8F72-282A8C48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922"/>
                </a:solidFill>
              </a:defRPr>
            </a:pPr>
            <a:r>
              <a:rPr sz="2850" b="1">
                <a:solidFill>
                  <a:srgbClr val="151922"/>
                </a:solidFill>
              </a:rPr>
              <a:t>CMF 生成器把材质图案从独立任务变成可复用资产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6A8B1-CDF9-4FED-A3AE-92CB689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面料、地板和墙板纹样沿用同一套输入、生成、预览、保存结构。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8C83C-A4D9-4B78-AFB8-3983E009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482a833df43a4"/>
          <a:srcRect xmlns:a="http://schemas.openxmlformats.org/drawingml/2006/main" l="0" t="1688" r="0" b="1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581150"/>
            <a:ext cx="7239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1A6E8-BEAA-461B-9D50-30D171F2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81150"/>
            <a:ext cx="3143250" cy="4095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BCF10-A15D-4DCE-A327-AB2B8BCF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001A"/>
                </a:solidFill>
              </a:defRPr>
            </a:pPr>
            <a:r>
              <a:rPr sz="2100" b="1">
                <a:solidFill>
                  <a:srgbClr val="C7001A"/>
                </a:solidFill>
              </a:rPr>
              <a:t>UI 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31172-C0AA-443D-BCEF-338EA963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25B1E-56C3-4C0A-BDA6-7775ECFB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765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左侧参数区保留文生图和参考图融合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AC40F-030C-4544-B8E4-83C5EEE6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19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86758-E0A5-4849-8978-26432461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结果区以材质卡片展示生成资产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36CBB-DF1F-4F34-866F-8C727E2D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DB136-D5E4-4191-9E04-0E5B375F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909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LoRA 信息显性呈现，便于追溯模型来源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42A5A-03EA-4663-AD13-FF37F62B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B030B-F6AE-46ED-8A67-C2C30A49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481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保存后进入 CMF 材质库继续复用</a:t>
            </a:r>
          </a:p>
        </p:txBody>
      </p:sp>
    </p:spTree>
    <p:extLst>
      <p:ext uri="{BB962C8B-B14F-4D97-AF65-F5344CB8AC3E}">
        <p14:creationId xmlns:p14="http://schemas.microsoft.com/office/powerpoint/2010/main" val="16740389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1C3414-89FE-4342-8C0F-A6B3E466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922"/>
                </a:solidFill>
              </a:defRPr>
            </a:pPr>
            <a:r>
              <a:rPr sz="2850" b="1">
                <a:solidFill>
                  <a:srgbClr val="151922"/>
                </a:solidFill>
              </a:rPr>
              <a:t>零部件生成和遮罩编辑共同支持局部设计迭代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9D847-457E-4EF5-8142-84442FA7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零部件页面负责多角度方案，遮罩页负责对图像局部区域做标记和重绘。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8AC8B-73D0-4345-9431-F350135D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62fe39e03442c"/>
          <a:srcRect xmlns:a="http://schemas.openxmlformats.org/drawingml/2006/main" l="4925" t="0" r="49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504950"/>
            <a:ext cx="5191125" cy="337185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ba2d473d544fc"/>
          <a:srcRect xmlns:a="http://schemas.openxmlformats.org/drawingml/2006/main" l="4925" t="0" r="49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504950"/>
            <a:ext cx="5191125" cy="337185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BC88D-9541-4269-AD0B-636DD659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24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3271F-E732-437E-8B60-C9EA85B9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1007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零部件：支持单图/多图参考、多角度生成和后续建模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D7585-374D-4034-959B-670E4E80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86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2175F-0820-43C2-99B8-BB4CEB6E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1007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遮罩：提供画笔、分区列表、提示词和应用遮罩动作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3B334-E10C-438A-A302-DCEC4AD9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48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346B6-A18D-4835-9958-DA1ACFE9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62650"/>
            <a:ext cx="1007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设计重点是把复杂图像处理变成设计师可理解的画板入口</a:t>
            </a:r>
          </a:p>
        </p:txBody>
      </p:sp>
    </p:spTree>
    <p:extLst>
      <p:ext uri="{BB962C8B-B14F-4D97-AF65-F5344CB8AC3E}">
        <p14:creationId xmlns:p14="http://schemas.microsoft.com/office/powerpoint/2010/main" val="10389144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5C04E6-36A8-4F97-AF95-242FEB5F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922"/>
                </a:solidFill>
              </a:defRPr>
            </a:pPr>
            <a:r>
              <a:rPr sz="2850" b="1">
                <a:solidFill>
                  <a:srgbClr val="151922"/>
                </a:solidFill>
              </a:rPr>
              <a:t>LoRA 管理和训练作为能力入口存在，不干扰主设计流程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0579C-D8C1-4481-A783-3DFE80DF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顶部保留 LoRA 训练入口，素材库和训练页用于管理员或授权用户维护模型资产。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21B99-BE42-4CD3-9625-4D89898A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6cfe719df49f3"/>
          <a:srcRect xmlns:a="http://schemas.openxmlformats.org/drawingml/2006/main" l="7710" t="0" r="77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8115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86016cf364128"/>
          <a:srcRect xmlns:a="http://schemas.openxmlformats.org/drawingml/2006/main" l="7710" t="0" r="77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8115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CDE5B-1EC2-4ECA-8D6F-FDB2243A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57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7E1EA-FBB6-4990-A302-193FDB70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72100"/>
            <a:ext cx="960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素材库按 CMF、零部件、客室风格三类组织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F5867-9013-4A32-9804-FDCB0586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72534-313E-4E23-A0BA-883413D1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34050"/>
            <a:ext cx="960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训练页表达数据集上传、参数调整和训练队列状态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07C55-05F2-41A6-B6B1-1053218A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81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2273A-54D7-47CC-A823-3114D955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96000"/>
            <a:ext cx="960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正式开发时需要结合权限系统控制训练和发布能力</a:t>
            </a:r>
          </a:p>
        </p:txBody>
      </p:sp>
    </p:spTree>
    <p:extLst>
      <p:ext uri="{BB962C8B-B14F-4D97-AF65-F5344CB8AC3E}">
        <p14:creationId xmlns:p14="http://schemas.microsoft.com/office/powerpoint/2010/main" val="17769452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1387FF-4499-4B50-9C3C-1CF0D51D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922"/>
                </a:solidFill>
              </a:defRPr>
            </a:pPr>
            <a:r>
              <a:rPr sz="2850" b="1">
                <a:solidFill>
                  <a:srgbClr val="151922"/>
                </a:solidFill>
              </a:rPr>
              <a:t>2D 生 3D 将图像生成结果延伸到模型数据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0FC1-CD43-4BF4-B1D8-3D90F2C7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该页面表达多角度图上传、格式选择、模型预览和导出资源库的业务闭环。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FA471-9E1F-441B-AD84-F3BDE2A6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ecd069d614ee7"/>
          <a:srcRect xmlns:a="http://schemas.openxmlformats.org/drawingml/2006/main" l="0" t="1688" r="0" b="1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543050"/>
            <a:ext cx="7239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196BB-11B7-4936-9FEE-74604E1D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2857500" cy="4095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FFD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975E3-2E75-41FE-A10A-3DADDA8C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62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001A"/>
                </a:solidFill>
              </a:defRPr>
            </a:pPr>
            <a:r>
              <a:rPr sz="2100" b="1">
                <a:solidFill>
                  <a:srgbClr val="C7001A"/>
                </a:solidFill>
              </a:rPr>
              <a:t>开发提示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9D23D-0DB6-44D9-B67C-D9C0CD3C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57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7F5F9-C75D-4EC2-8506-F30B2E3C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当前为静态模型预览占位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5231C-83BC-4F15-96A0-27A0F018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33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6A4BA-32F7-4D74-9814-0EDB5531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4800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后续可接入 Three.js 或模型查看器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7F4BC-A1CA-43FC-A551-A3E2B61E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9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AF735-D09D-497F-A030-F2AAA06C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242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导出格式包括 OBJ、FBX、GLB、STL</a:t>
            </a:r>
          </a:p>
        </p:txBody>
      </p:sp>
    </p:spTree>
    <p:extLst>
      <p:ext uri="{BB962C8B-B14F-4D97-AF65-F5344CB8AC3E}">
        <p14:creationId xmlns:p14="http://schemas.microsoft.com/office/powerpoint/2010/main" val="21305275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A0709C-D1FC-4BDA-9E2C-08B20DEC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922"/>
                </a:solidFill>
              </a:defRPr>
            </a:pPr>
            <a:r>
              <a:rPr sz="2850" b="1">
                <a:solidFill>
                  <a:srgbClr val="151922"/>
                </a:solidFill>
              </a:rPr>
              <a:t>自动报告和资源库把生成结果变成可交付资产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8B5D3-C108-4F8B-945C-2C42197F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报告页负责汇总项目素材，资源库负责沉淀图片、材质、模型和文档。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27F3E-C02C-4A52-A10E-CA127903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55608f542440c"/>
          <a:srcRect xmlns:a="http://schemas.openxmlformats.org/drawingml/2006/main" l="7270" t="0" r="7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62100"/>
            <a:ext cx="5143500" cy="3524250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4e84c4bf44f77"/>
          <a:srcRect xmlns:a="http://schemas.openxmlformats.org/drawingml/2006/main" l="7270" t="0" r="7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562100"/>
            <a:ext cx="5143500" cy="3524250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5AD65-46E6-4F5A-AC42-8C83754C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34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7DA66-4CFD-4302-AB30-EF9DD2E3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48300"/>
            <a:ext cx="988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报告生成：选择素材、生成章节、导出 Word/PPT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A1CE7-BE3D-4FCB-B4A7-3C2FE9D5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95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0B3D6-8387-4C45-B9C6-21A10D02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10250"/>
            <a:ext cx="988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资源库：统一管理生成图片、CMF 材质、3D 模型和报告文档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F281A-1733-4B1E-A390-7DC488FF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57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8D813-085B-4907-A96C-9A849DD2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172200"/>
            <a:ext cx="988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正式系统需要补充项目维度、版本记录和下载权限</a:t>
            </a:r>
          </a:p>
        </p:txBody>
      </p:sp>
    </p:spTree>
    <p:extLst>
      <p:ext uri="{BB962C8B-B14F-4D97-AF65-F5344CB8AC3E}">
        <p14:creationId xmlns:p14="http://schemas.microsoft.com/office/powerpoint/2010/main" val="8325804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0A2594-7145-4D96-AF8E-638C7E91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922"/>
                </a:solidFill>
              </a:defRPr>
            </a:pPr>
            <a:r>
              <a:rPr sz="2850" b="1">
                <a:solidFill>
                  <a:srgbClr val="151922"/>
                </a:solidFill>
              </a:rPr>
              <a:t>权限和 AI 助手补足协作与知识支持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4F3D5-B165-441E-821A-2A3E1AEB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管理员负责工作流发布和共享资源，普通用户调用已发布能力；AI 助手只保留右下角统一入口。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7FEF5-B93B-46AB-B607-0BF22011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33b49dc924f55"/>
          <a:srcRect xmlns:a="http://schemas.openxmlformats.org/drawingml/2006/main" l="6083" t="0" r="60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81150"/>
            <a:ext cx="51435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54eacdf3245c8"/>
          <a:srcRect xmlns:a="http://schemas.openxmlformats.org/drawingml/2006/main" l="6083" t="0" r="60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581150"/>
            <a:ext cx="51435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B8372-88E1-40C7-AF45-984B18C9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57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65908-D61D-4B7B-9A87-84996144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72100"/>
            <a:ext cx="988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权限模型当前是待甲方确认的原型假设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4CBA0-13A0-48CD-A218-40FF98EE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4D4A3-97C3-4276-B75E-026DA25E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34050"/>
            <a:ext cx="988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AI 助手支持设计边界、规范、提示词和报告摘要问答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7092B-ED6C-41BD-9DE8-7642D727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81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13761-92DE-41AD-B32E-D8E45379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96000"/>
            <a:ext cx="988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后续需接入真实组织、角色、资源和审计能力</a:t>
            </a:r>
          </a:p>
        </p:txBody>
      </p:sp>
    </p:spTree>
    <p:extLst>
      <p:ext uri="{BB962C8B-B14F-4D97-AF65-F5344CB8AC3E}">
        <p14:creationId xmlns:p14="http://schemas.microsoft.com/office/powerpoint/2010/main" val="10475673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DF1E5C-CF84-4402-83E3-C3920300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922"/>
                </a:solidFill>
              </a:defRPr>
            </a:pPr>
            <a:r>
              <a:rPr sz="2850" b="1">
                <a:solidFill>
                  <a:srgbClr val="151922"/>
                </a:solidFill>
              </a:rPr>
              <a:t>后续开发应把 Demo 拆成配置驱动的前端工程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F47EB-53C3-469C-ACE0-955D8D5B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当前单 HTML 证明了页面结构，下一步要把工作流 schema、任务队列和资源管理接入真实服务。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DA3B9-8113-4B34-8E08-782D82D6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1A"/>
          </a:solidFill>
          <a:ln xmlns:a="http://schemas.openxmlformats.org/drawingml/2006/main" w="0">
            <a:solidFill>
              <a:srgbClr val="C7001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358BB-6DEC-4F39-8EB2-B1B57D9D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B1599-A055-4A67-8794-8B2BAD8F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1A"/>
                </a:solidFill>
              </a:defRPr>
            </a:pPr>
            <a:r>
              <a:rPr sz="1950" b="1">
                <a:solidFill>
                  <a:srgbClr val="C7001A"/>
                </a:solidFill>
              </a:rPr>
              <a:t>前端工程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FB6EB-DCED-40E0-B0D2-4EFAB374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拆分 AppShell、WorkflowTabs、ParameterPanel、CanvasStage、TaskQueue 等组件。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5BA20-A2CA-4B94-BA95-3492700A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5735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3FB9D-C866-4EB7-AD56-4C799C87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8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1A"/>
                </a:solidFill>
              </a:defRPr>
            </a:pPr>
            <a:r>
              <a:rPr sz="1950" b="1">
                <a:solidFill>
                  <a:srgbClr val="C7001A"/>
                </a:solidFill>
              </a:rPr>
              <a:t>工作流接口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9D084-D003-4998-A2D1-9DE8FDFD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241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由后端返回已发布 workflow schema，前端按 schema 渲染参数表单。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04DCB-D92F-47C7-BC94-CB033F61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6D6D9-2F99-48A1-97A9-B1D80A37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1A"/>
                </a:solidFill>
              </a:defRPr>
            </a:pPr>
            <a:r>
              <a:rPr sz="1950" b="1">
                <a:solidFill>
                  <a:srgbClr val="C7001A"/>
                </a:solidFill>
              </a:rPr>
              <a:t>资源与权限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4CB04-4E9C-4710-8FC1-FDF4616F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资源库、LoRA、报告和用户权限需要独立服务和审计能力。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64472-11FC-40F7-8346-B14FC6DE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4805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AFAD9-E237-41B3-8806-5A880C05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76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1A"/>
                </a:solidFill>
              </a:defRPr>
            </a:pPr>
            <a:r>
              <a:rPr sz="1950" b="1">
                <a:solidFill>
                  <a:srgbClr val="C7001A"/>
                </a:solidFill>
              </a:rPr>
              <a:t>交付物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2A8B3-F35A-4156-9C1A-AC690711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148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本目录已包含源输入、HTML、assets、页面截图、PPT 和 MD 说明。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D5C85-7638-4A1E-ADC1-6BA4B269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922"/>
                </a:solidFill>
              </a:defRPr>
            </a:pPr>
            <a:r>
              <a:rPr sz="1650" b="1">
                <a:solidFill>
                  <a:srgbClr val="151922"/>
                </a:solidFill>
              </a:rPr>
              <a:t>建议下一轮确认：权限边界、工作流发布流程、资源组织层级、报告模板和屏幕捕捉安全策略。</a:t>
            </a:r>
          </a:p>
        </p:txBody>
      </p:sp>
    </p:spTree>
    <p:extLst>
      <p:ext uri="{BB962C8B-B14F-4D97-AF65-F5344CB8AC3E}">
        <p14:creationId xmlns:p14="http://schemas.microsoft.com/office/powerpoint/2010/main" val="1448544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2026-07-09T23:24:56.6430000Z</dcterms:created>
  <dcterms:modified xsi:type="dcterms:W3CDTF">2026-07-09T23:24:56.6430000Z</dcterms:modified>
</coreProperties>
</file>